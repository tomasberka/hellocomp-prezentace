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pPr indent="0" marL="0">
              <a:buNone/>
            </a:pPr>
            <a:r>
              <a:rPr lang="en-US" sz="7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Session — Přehled práce, plán a další kroky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5943600" cy="27432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Připravil: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Berka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Datum: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Březen 2026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Klient: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HelloComp.cz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jsme vytvořili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024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Výsledky analýz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8328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a obsah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Silné stránky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potřebujeme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72400" y="4023360"/>
            <a:ext cx="1280160" cy="594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JSME VYTVOŘILI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Přehled všech dodaných materiálů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6868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784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76072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scénářů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Reels / YouTube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86868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868680"/>
            <a:ext cx="5486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9784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502152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video scénářů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Napojeno na SEO plán hellocomp.cz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86868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868680"/>
            <a:ext cx="54864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97840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28232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Nápadů na videa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8232" y="2121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formátem, platformou a délkou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88036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880360"/>
            <a:ext cx="54864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990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karuselů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slidy každý · připraveno k publikaci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88036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288036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990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3502152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Guide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02152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Tón, jazyk, terminologie, pravidla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2880360"/>
            <a:ext cx="2743200" cy="1783080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2880360"/>
            <a:ext cx="54864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299008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6428232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Kampaňový plán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28232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týdnů · 500+ leadů · sociální kanály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GUIDELINES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 1.0 · 31. 3. 2026 · Confidence: Medium (0.69)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8412480" cy="658368"/>
          </a:xfrm>
          <a:prstGeom prst="rect">
            <a:avLst/>
          </a:prstGeom>
          <a:solidFill>
            <a:srgbClr val="1A2D1F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229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Klíčový princip: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"Odbornost bez arogance"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Tomáš jako upřímný geek, který zákazníka vzdělává, ne prodává.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724912" cy="137160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600200"/>
            <a:ext cx="4572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928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Odbornost bez arogance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Mluvíme jako kamarád, ne jako profesor. Zákazník odchází chytřejší, ne zahanbený.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0200"/>
            <a:ext cx="2724912" cy="1371600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00200"/>
            <a:ext cx="4572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8928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Dostupnost pro každého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24028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GAMER SE (15K Kč) po GAMER Ultra (150K). Každý zákazník stejně důležitý.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600200"/>
            <a:ext cx="2724912" cy="137160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600200"/>
            <a:ext cx="4572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73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8928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Autenticita / Upřímný geek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24028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Doporučujeme co bychom koupili sami. BTS obsah, osobní pohled, žádný prodejní tón.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154680"/>
            <a:ext cx="4114800" cy="1371600"/>
          </a:xfrm>
          <a:prstGeom prst="rect">
            <a:avLst/>
          </a:prstGeom>
          <a:solidFill>
            <a:srgbClr val="172236"/>
          </a:solidFill>
          <a:ln w="12700">
            <a:solidFill>
              <a:srgbClr val="60A5F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54680"/>
            <a:ext cx="45720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27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4472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Péče a spolehlivost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7947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Každé PC ručně sestaveno a otestováno. 4,8/5 na Heurece (115+ recenzí).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154680"/>
            <a:ext cx="4114800" cy="1371600"/>
          </a:xfrm>
          <a:prstGeom prst="rect">
            <a:avLst/>
          </a:prstGeom>
          <a:solidFill>
            <a:srgbClr val="172236"/>
          </a:solidFill>
          <a:ln w="12700">
            <a:solidFill>
              <a:srgbClr val="A78BFA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154680"/>
            <a:ext cx="45720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227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34472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Komunitní energie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 vzdělávací obsah / 30 % promo. HelloComp je součást české gaming komunity.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KONKURENČNÍ ANALÝZA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 · CZC · Smarty/TIGO · náš positioning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4023360" cy="2240280"/>
          </a:xfrm>
          <a:prstGeom prst="rect">
            <a:avLst/>
          </a:prstGeom>
          <a:solidFill>
            <a:srgbClr val="0D2215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NAŠE POZICE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Jediný specialista, který kombinuje řemeslnou kvalitu PC s dostupností pro všechny cenové hladiny.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280160" cy="50292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/ 5,0 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2377440"/>
            <a:ext cx="2377440" cy="50292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395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115+ recenzí Heureka.cz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04672"/>
            <a:ext cx="1371600" cy="2240280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04672"/>
            <a:ext cx="1371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Alza.cz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11704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Masový retailer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45152" y="14447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Největší e-shop, 24h dodání, 179K IG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5152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Generické sestavy, herní PC = 1 z tisíce kategorií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45152" y="2798064"/>
            <a:ext cx="118872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798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Heureka: 4,6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804672"/>
            <a:ext cx="1371600" cy="224028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804672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53912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CZC.cz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53912" y="11704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 retailer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53912" y="14447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 trhu od 1998, IT specialista, sestavovací služba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Široký záběr oslabuje gaming identitu, slabý TikTok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53912" y="2798064"/>
            <a:ext cx="118872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2798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Heureka: 4,3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89520" y="804672"/>
            <a:ext cx="1371600" cy="2240280"/>
          </a:xfrm>
          <a:prstGeom prst="rect">
            <a:avLst/>
          </a:prstGeom>
          <a:solidFill>
            <a:srgbClr val="172236"/>
          </a:solidFill>
          <a:ln w="12700">
            <a:solidFill>
              <a:srgbClr val="8B5CF6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804672"/>
            <a:ext cx="13716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Smarty/TIGO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62672" y="117043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stavitel + influencer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662672" y="14447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Sestavení za 2 dny, záruka 36 mes., Agraelus collab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662672" y="21031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Influencer ≠ kvalita. Naše 4,8 &gt; jejich 4,5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62672" y="2798064"/>
            <a:ext cx="1188720" cy="18288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62672" y="2798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Heureka: 4,5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3154680"/>
            <a:ext cx="8412480" cy="155448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KLÍČOVÉ MESSAGING PŘEFORMULOVÁNÍ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"Stavíme herní PC"  →  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94560" y="3547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"Herní počítače pro každého — ručně postavené v Praze, ne z regálu"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"Kvalitní komponenty"  → 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547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"Každá sestava zátěžově testována. 4,8 hvězd od 115+ hráčů."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"Rychlé dodání"  →  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94560" y="3931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"Každé PC stavíme pečlivě — protože vaše hra si zaslouží víc než krabici z regálu."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 ceny"  → 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3931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"RTX 5090 od specialistů, kteří opravdu hrají — ne ze supermarketu."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SCÉNÁŘE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obecných · 25+ SEO-napojených · vykání · camera-ready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2011680" cy="315468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86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&amp; HODNOTA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za 20k PC, Co za 30k PC, Budget gaming pod 15k, Zákazník za 35k, Kdy koupit PC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87752" y="822960"/>
            <a:ext cx="2011680" cy="3154680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87752" y="82296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886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VZDĚLÁNÍ &amp; HW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79192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267919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spotů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9192" y="23957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CPU, RAM, SSD vs HDD, Intel vs AMD, RTX vs RX, Bottleneck, Monitor Hz, Chlazení, RGB, Zdroj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64024" y="822960"/>
            <a:ext cx="2011680" cy="315468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64024" y="82296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886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ZÁKULISÍ &amp; DŮVĚRA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55464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855464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55464" y="23957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HelloComp, Jak testujeme, Timelapse stavby, Zákazník stavil sám, Čistění PC, 5 věcí po spuštění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0296" y="822960"/>
            <a:ext cx="2011680" cy="3154680"/>
          </a:xfrm>
          <a:prstGeom prst="rect">
            <a:avLst/>
          </a:prstGeom>
          <a:solidFill>
            <a:srgbClr val="172236"/>
          </a:solidFill>
          <a:ln w="12700">
            <a:solidFill>
              <a:srgbClr val="A78BF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0296" y="82296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736" y="886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RADY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31736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7031736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31736" y="23957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chyby výběru, Proč PC laguje, PC vs konzole, Jak vybrat monitor, Darek pro rodiče, Headset, Ultimate Guide, Streaming setup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114800"/>
            <a:ext cx="8412480" cy="658368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spotů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Krátké 60-90s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spotů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01168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Delší 3-5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spoty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 zákulisí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Reels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8096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90-DENNÍ PLÁN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fáze nasazení obsahu · konkrétní cíle · týdenní rytmus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8321040" cy="54864"/>
          </a:xfrm>
          <a:prstGeom prst="rect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536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54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777240"/>
            <a:ext cx="27889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1–30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2788920" cy="274320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videí (1 každé 2 dny)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 TikTok followers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10 000 views celkem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Spustit IG Reels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Krátké vzdělávací tipy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Launch: kdo jsme, co děláme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1536192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554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777240"/>
            <a:ext cx="27889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01568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31–60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057400"/>
            <a:ext cx="2788920" cy="2743200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2900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videí (každý 2. den)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2 000 followers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50 000 views celkem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Přidáme YouTube kanál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Delší srovnávací videa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4206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První paid boost na best-of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78040" y="1536192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554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777240"/>
            <a:ext cx="2788920" cy="71323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804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ŠKÁLOVÁNÍ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81928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61–90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057400"/>
            <a:ext cx="2788920" cy="2743200"/>
          </a:xfrm>
          <a:prstGeom prst="rect">
            <a:avLst/>
          </a:prstGeom>
          <a:solidFill>
            <a:srgbClr val="1E2D45"/>
          </a:solidFill>
          <a:ln w="12700">
            <a:solidFill>
              <a:srgbClr val="10B981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2148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20+ videí (obden + bonusy)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5 000 followers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09360" y="2971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150 000 views celkem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3383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Obsahové série (3-5 dílů)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Spolupráce CZ gaming komunita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09360" y="4206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Q&amp;A / build stream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KAMPAŇOVÝ PLÁN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182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týdnů · Social-First Lead Generation · Cíl: 500+ leadů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2011680" cy="100584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1208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Leadů za 6 týdnů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554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Primární KPI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87752" y="777240"/>
            <a:ext cx="2011680" cy="1005840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97480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554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777240"/>
            <a:ext cx="2011680" cy="10058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73752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554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Primární platformy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0296" y="777240"/>
            <a:ext cx="2011680" cy="1005840"/>
          </a:xfrm>
          <a:prstGeom prst="rect">
            <a:avLst/>
          </a:prstGeom>
          <a:solidFill>
            <a:srgbClr val="172236"/>
          </a:solidFill>
          <a:ln w="12700">
            <a:solidFill>
              <a:srgbClr val="A78BFA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0024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50024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0024" y="1554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sekvence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938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FÁZÍ KAMPANĚ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286000"/>
            <a:ext cx="2651760" cy="2514600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28600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1–2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" y="309067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Budovat zájem a sledující. Vzdělávací Reels, BTS, komunitní ankety.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286000"/>
            <a:ext cx="2651760" cy="2514600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2860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3–4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55848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355848" y="309067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 launch. Instagram Stories quiz. Live Q&amp;A. DM automatizace.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2286000"/>
            <a:ext cx="2651760" cy="2514600"/>
          </a:xfrm>
          <a:prstGeom prst="rect">
            <a:avLst/>
          </a:prstGeom>
          <a:solidFill>
            <a:srgbClr val="1E2D45"/>
          </a:solidFill>
          <a:ln w="12700">
            <a:solidFill>
              <a:srgbClr val="10B98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228600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5–6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90488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90488" y="309067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Limitovaná nabídka pro odběratele. Retargeting. UGC série. Výsledky.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Kanály: Instagram (high) · TikTok (high) · Facebook (medium) · Email (medium) · YouTube Shorts (low/repurpose)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CAROUSELY + TÝDENNÍ RYTMUS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4114800" cy="347472"/>
          </a:xfrm>
          <a:prstGeom prst="rect">
            <a:avLst/>
          </a:prstGeom>
          <a:solidFill>
            <a:srgbClr val="1E2D45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KARUSELOVÝCH SAD — HOTOVO K PUBLIKACI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Herní PC do 20 000 Kč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048" y="14904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poznat nejlepší herní PC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892808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148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— váš PC brzdí sám sebe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1892808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0048" y="2148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XMP profil — RAM zadarmo rychlejší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551176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5968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Čištění PC — prach zabíjí výkon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2551176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0048" y="25968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70048" y="28072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vs DisplayPort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209544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2552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4655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Repasované herní PC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06040" y="3209544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0048" y="32552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70048" y="34655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 série — vyplatí se?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867912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913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4123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Vodní vs vzduchové chlazení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06040" y="3867912"/>
            <a:ext cx="1920240" cy="54864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3913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70048" y="41239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vybrat herní PC — 3 otázky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1E2D45"/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TÝDENNÍ PUBLISHING RYTMUS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1234440"/>
            <a:ext cx="521208" cy="347472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3659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659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 vzdělání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30952" y="1234440"/>
            <a:ext cx="521208" cy="34747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095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3095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3095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Carousel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3095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slidů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25312" y="1234440"/>
            <a:ext cx="521208" cy="347472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2531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2531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2531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spot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2531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srovnání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519672" y="1234440"/>
            <a:ext cx="521208" cy="347472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1967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1967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967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Stories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1967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anketa/quiz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114032" y="1234440"/>
            <a:ext cx="521208" cy="347472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403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1403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1403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11403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 guide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708392" y="1234440"/>
            <a:ext cx="521208" cy="34747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0839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70839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0839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BTS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0839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zákulisí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302752" y="1234440"/>
            <a:ext cx="521208" cy="347472"/>
          </a:xfrm>
          <a:prstGeom prst="rect">
            <a:avLst/>
          </a:prstGeom>
          <a:solidFill>
            <a:srgbClr val="64748B">
              <a:alpha val="75000"/>
            </a:srgbClr>
          </a:solidFill>
          <a:ln w="12700">
            <a:solidFill>
              <a:srgbClr val="64748B">
                <a:alpha val="4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02752" y="1252728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302752" y="1645920"/>
            <a:ext cx="521208" cy="1508760"/>
          </a:xfrm>
          <a:prstGeom prst="rect">
            <a:avLst/>
          </a:prstGeom>
          <a:solidFill>
            <a:srgbClr val="172236"/>
          </a:solidFill>
          <a:ln w="12700">
            <a:solidFill>
              <a:srgbClr val="64748B">
                <a:alpha val="3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02752" y="1691640"/>
            <a:ext cx="521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302752" y="2240280"/>
            <a:ext cx="521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+ FB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3291840"/>
            <a:ext cx="4114800" cy="502920"/>
          </a:xfrm>
          <a:prstGeom prst="rect">
            <a:avLst/>
          </a:prstGeom>
          <a:solidFill>
            <a:srgbClr val="0D2215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00600" y="3319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videa + 2 social posty + 1 recyklace = 7 kusů obsahu týdně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11480" y="3913632"/>
            <a:ext cx="4114800" cy="50292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3959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karusel: Slide 1 = Hook · Slide 2 = Hodnota · Slide 3 = CTA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709160" y="3913632"/>
            <a:ext cx="4114800" cy="502920"/>
          </a:xfrm>
          <a:prstGeom prst="rect">
            <a:avLst/>
          </a:prstGeom>
          <a:solidFill>
            <a:srgbClr val="1E2D4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00600" y="3959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spot: TikTok → IG Reels → YT Shorts → FB video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SILNÉ STRÁNKY · CO NÁM CHYBÍ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4114800" cy="347472"/>
          </a:xfrm>
          <a:prstGeom prst="rect">
            <a:avLst/>
          </a:prstGeom>
          <a:solidFill>
            <a:srgbClr val="0D2215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MÁM / CO FUNGUJE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16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4,8/5,0 na Heurece — nejdůvěryhodnější v segmentu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9164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Ruční sestavení + testování = konkurenční výhoda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9456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21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Jako jediný kombinuje specialistiku + dostupnost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9748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61 videí + 10 karuselů hotovo k publikaci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20040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20040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27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plán: 30 URL, z toho 13 live v březnu 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0332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Voice Guideline — konzistentní hlas napříč kanály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20624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20624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33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Kampaňový plán — 6 týdnů, měřitelné KPI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solidFill>
            <a:srgbClr val="2C1A0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JEŠTĚ POTŘEBUJEME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118872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188720"/>
            <a:ext cx="36576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21615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Zahájit natáčení — 10 spotů v tomto týdnu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63840" y="1216152"/>
            <a:ext cx="896112" cy="2743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63840" y="121615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IHNED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169164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691640"/>
            <a:ext cx="36576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7190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Aktivovat TikTok @hellocomp.cz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63840" y="1719072"/>
            <a:ext cx="896112" cy="274320"/>
          </a:xfrm>
          <a:prstGeom prst="rect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17190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IHNED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9160" y="219456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194560"/>
            <a:ext cx="3657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2219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Publikovat 3 IG karusely ze sady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63840" y="2221992"/>
            <a:ext cx="896112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222199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5 DNŮ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09160" y="269748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2697480"/>
            <a:ext cx="3657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72491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 — průvodce koupí herního PC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63840" y="2724912"/>
            <a:ext cx="896112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272491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3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320040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200400"/>
            <a:ext cx="36576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22783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pro lead capture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863840" y="3227832"/>
            <a:ext cx="896112" cy="2743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322783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09160" y="370332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09160" y="3703320"/>
            <a:ext cx="36576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73075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sekvence (3 emaily po zachycení leadu)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863840" y="3730752"/>
            <a:ext cx="896112" cy="27432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373075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09160" y="4206240"/>
            <a:ext cx="4114800" cy="438912"/>
          </a:xfrm>
          <a:prstGeom prst="rect">
            <a:avLst/>
          </a:prstGeom>
          <a:solidFill>
            <a:srgbClr val="172236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4206240"/>
            <a:ext cx="36576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423367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Vizuální brand manuál (barvy, logo, typo)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863840" y="4233672"/>
            <a:ext cx="896112" cy="274320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0" y="42336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DALŠÍ KROKY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182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Konkrétní akce s deadliny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502920" cy="9144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877824"/>
            <a:ext cx="932688" cy="256032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88696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Tento týden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33272" y="877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Natočit prvních 10 spotů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3272" y="12252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Priorita: Cena &amp; Hodnota + BTS zákulisí. Teleprompter připraven, scénáře hotovy.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82296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EF4444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822960"/>
            <a:ext cx="502920" cy="91440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92440" y="877824"/>
            <a:ext cx="932688" cy="256032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88696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3 dnů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68112" y="877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TikTok @hellocomp.cz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68112" y="12252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Optimalizovat profil, nahrát 3 první videa, spustit IG cross-posting.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187452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1874520"/>
            <a:ext cx="502920" cy="91440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130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57600" y="1929384"/>
            <a:ext cx="932688" cy="256032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5 dnů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33272" y="1929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Publikovat 3 IG karusely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33272" y="2276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hotových sad. Doporučuji: Herní PC do 20K, Bottleneck, XMP profil.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87452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F59E0B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874520"/>
            <a:ext cx="502920" cy="91440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30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092440" y="1929384"/>
            <a:ext cx="932688" cy="256032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7 dnů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68112" y="19293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Nastavit IG Reels cross-posting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68112" y="2276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→ IG Reels automatizace pro maximální dosah z každého videa.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292608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2926080"/>
            <a:ext cx="502920" cy="9144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657600" y="2980944"/>
            <a:ext cx="932688" cy="256032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299008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33272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Vytvořit lead magnet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33272" y="3328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"Průvodce koupí herního PC 2026" — PDF ke stažení. Konverzní motor kampaně.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292608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10B981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2926080"/>
            <a:ext cx="502920" cy="91440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8092440" y="2980944"/>
            <a:ext cx="932688" cy="256032"/>
          </a:xfrm>
          <a:prstGeom prst="rect">
            <a:avLst/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299008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Týden 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68112" y="29809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landing page + email sekvenci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468112" y="33284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Jednoduchá stránka se signup formulářem + 3 welcome emaily pro nové leady.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1480" y="397764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60A5FA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11480" y="3977640"/>
            <a:ext cx="502920" cy="914400"/>
          </a:xfrm>
          <a:prstGeom prst="rect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233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3657600" y="4032504"/>
            <a:ext cx="932688" cy="256032"/>
          </a:xfrm>
          <a:prstGeom prst="rect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0" y="40416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Měsíc 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33272" y="4032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Spustit YouTube kanál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033272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3-5min video (ideálně: Jak vybrat herní PC). Repurposovat z TikTok.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46320" y="3977640"/>
            <a:ext cx="4251960" cy="914400"/>
          </a:xfrm>
          <a:prstGeom prst="rect">
            <a:avLst/>
          </a:prstGeom>
          <a:solidFill>
            <a:srgbClr val="172236"/>
          </a:solidFill>
          <a:ln w="12700">
            <a:solidFill>
              <a:srgbClr val="94A3B8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46320" y="3977640"/>
            <a:ext cx="502920" cy="91440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42336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8092440" y="4032504"/>
            <a:ext cx="932688" cy="256032"/>
          </a:xfrm>
          <a:prstGeom prst="rect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92440" y="404164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30 dnech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468112" y="4032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Vyhodnotit Fázi 1 a škálovat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5468112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best-performing formátů. Zdvojnásobit co funguje, opustit co nefunguje.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videí. 10 karuselů. 1 kampaň.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Obsah, který buduje autoritu a prodává přes odbornost.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6400800" cy="27432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Voice Guidelines — tón, jazyk, pravidla kompletní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Konkurenční analýza — jasné positioning vs. Alza, CZC, Smarty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Video obsah — 61 scénářů připravených k natočení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Instagram — 10 karuselů ready k publikaci dnes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587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90-denní plán — konkrétní KPIs pro každou fázi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70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Potřebujeme: zahájit natáčení + aktivovat TikTok + lead magnet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412480" cy="27432"/>
          </a:xfrm>
          <a:prstGeom prst="rect">
            <a:avLst/>
          </a:prstGeom>
          <a:solidFill>
            <a:srgbClr val="64748B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hellocomp.cz  //  @hellocomp.cz  //  Tomáš Berka  //  Březen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HelloComp — Content Strategy Session</dc:title>
  <dc:subject>PptxGenJS Presentation</dc:subject>
  <dc:creator>PptxGenJS</dc:creator>
  <cp:lastModifiedBy>PptxGenJS</cp:lastModifiedBy>
  <cp:revision>1</cp:revision>
  <dcterms:created xsi:type="dcterms:W3CDTF">2026-03-31T13:15:56Z</dcterms:created>
  <dcterms:modified xsi:type="dcterms:W3CDTF">2026-03-31T13:15:56Z</dcterms:modified>
</cp:coreProperties>
</file>